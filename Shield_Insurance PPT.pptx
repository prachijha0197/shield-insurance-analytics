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66" r:id="rId6"/>
    <p:sldId id="267" r:id="rId7"/>
    <p:sldId id="264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9088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2D66D-442B-3FA9-8226-B6921FF0E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F81F7C-A854-F36C-B635-52A91BA772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BE60AD-EF10-FB38-4AB6-E754E80230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F5B400-2DEC-0945-3C71-4C1534E593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6371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63E89-8C74-EA29-C762-DF569954F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E857DC-A3A0-0687-B710-2200C076B1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8708C7-2A84-A01B-EAEE-FEE18645A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14AED-8427-5C9B-FDE8-103D6632D1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6376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8FA8"/>
          </a:solidFill>
          <a:ln w="12700">
            <a:solidFill>
              <a:srgbClr val="1B8F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109728"/>
          </a:xfrm>
          <a:prstGeom prst="rect">
            <a:avLst/>
          </a:prstGeom>
          <a:solidFill>
            <a:srgbClr val="1B8FA8"/>
          </a:solidFill>
          <a:ln w="12700">
            <a:solidFill>
              <a:srgbClr val="1B8F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2EC4E0"/>
          </a:solidFill>
          <a:ln w="12700">
            <a:solidFill>
              <a:srgbClr val="2EC4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583680" y="-1097280"/>
            <a:ext cx="3200400" cy="3200400"/>
          </a:xfrm>
          <a:prstGeom prst="ellipse">
            <a:avLst/>
          </a:prstGeom>
          <a:solidFill>
            <a:srgbClr val="1B8FA8">
              <a:alpha val="20000"/>
            </a:srgbClr>
          </a:solidFill>
          <a:ln w="12700">
            <a:solidFill>
              <a:srgbClr val="1B8FA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132320" y="2926080"/>
            <a:ext cx="2011680" cy="2011680"/>
          </a:xfrm>
          <a:prstGeom prst="ellipse">
            <a:avLst/>
          </a:prstGeom>
          <a:solidFill>
            <a:srgbClr val="2EC4E0">
              <a:alpha val="15000"/>
            </a:srgbClr>
          </a:solidFill>
          <a:ln w="12700">
            <a:solidFill>
              <a:srgbClr val="2EC4E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457200"/>
            <a:ext cx="2377440" cy="347472"/>
          </a:xfrm>
          <a:prstGeom prst="rect">
            <a:avLst/>
          </a:prstGeom>
          <a:solidFill>
            <a:srgbClr val="1B8FA8"/>
          </a:solidFill>
          <a:ln w="12700">
            <a:solidFill>
              <a:srgbClr val="1B8F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CODEBASICS VIRTUAL INTERNSHIP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" y="100584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200" b="1" kern="0" spc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SHIELD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347472" y="18288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kern="0" spc="400" dirty="0">
                <a:solidFill>
                  <a:srgbClr val="2EC4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INSURANCE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347472" y="28346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C5E4ED"/>
                </a:solidFill>
              </a:rPr>
              <a:t>Data Analytics Dashboard – Business Insights Report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47472" y="3364992"/>
            <a:ext cx="4114800" cy="45720"/>
          </a:xfrm>
          <a:prstGeom prst="rect">
            <a:avLst/>
          </a:prstGeom>
          <a:solidFill>
            <a:srgbClr val="1B8FA8"/>
          </a:solidFill>
          <a:ln w="12700">
            <a:solidFill>
              <a:srgbClr val="1B8F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7472" y="3520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</a:rPr>
              <a:t>Presented by: </a:t>
            </a:r>
            <a:r>
              <a:rPr lang="en-US" sz="1500" b="1" dirty="0">
                <a:solidFill>
                  <a:srgbClr val="FFFFFF"/>
                </a:solidFill>
              </a:rPr>
              <a:t>Prachi Jha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" y="39319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1"/>
                </a:solidFill>
              </a:rPr>
              <a:t>Tools: </a:t>
            </a:r>
            <a:r>
              <a:rPr lang="en-US" sz="1200" b="1" dirty="0">
                <a:solidFill>
                  <a:srgbClr val="2EC4E0"/>
                </a:solidFill>
              </a:rPr>
              <a:t>Power BI  |  DAX  |  Power Query  |  SQL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" y="4343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</a:rPr>
              <a:t>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8FA8"/>
          </a:solidFill>
          <a:ln w="12700">
            <a:solidFill>
              <a:srgbClr val="1B8F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636"/>
          </a:solidFill>
          <a:ln w="12700">
            <a:solidFill>
              <a:srgbClr val="16263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229600" cy="3002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500" dirty="0">
                <a:solidFill>
                  <a:srgbClr val="FFFFFF"/>
                </a:solidFill>
                <a:latin typeface="Arial Black" pitchFamily="34" charset="0"/>
              </a:rPr>
              <a:t>PROJECT OVERVIEW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21436"/>
            <a:ext cx="8255508" cy="2026920"/>
          </a:xfrm>
          <a:prstGeom prst="rect">
            <a:avLst/>
          </a:prstGeom>
          <a:solidFill>
            <a:srgbClr val="162636"/>
          </a:solidFill>
          <a:ln w="12700">
            <a:solidFill>
              <a:srgbClr val="1B8F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821436"/>
            <a:ext cx="548640" cy="2026920"/>
          </a:xfrm>
          <a:prstGeom prst="rect">
            <a:avLst/>
          </a:prstGeom>
          <a:solidFill>
            <a:srgbClr val="1B8FA8"/>
          </a:solidFill>
          <a:ln w="12700">
            <a:solidFill>
              <a:srgbClr val="1B8F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47472" y="821436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87552" y="886968"/>
            <a:ext cx="2383536" cy="2636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600" b="1" dirty="0">
                <a:solidFill>
                  <a:schemeClr val="bg2"/>
                </a:solidFill>
              </a:rPr>
              <a:t>About Shield Insurance</a:t>
            </a:r>
            <a:endParaRPr lang="en-US" sz="1600" b="1" dirty="0">
              <a:solidFill>
                <a:schemeClr val="bg2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063752" y="1296924"/>
            <a:ext cx="75117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➢ Shield Insurance delivers tailored and comprehensive insurance solutions that cater to the diverse needs of individuals and families across all age groups.</a:t>
            </a:r>
          </a:p>
        </p:txBody>
      </p:sp>
      <p:sp>
        <p:nvSpPr>
          <p:cNvPr id="50" name="Text 7">
            <a:extLst>
              <a:ext uri="{FF2B5EF4-FFF2-40B4-BE49-F238E27FC236}">
                <a16:creationId xmlns:a16="http://schemas.microsoft.com/office/drawing/2014/main" id="{1A04C2A6-835C-5E20-EFDA-125EB19109FD}"/>
              </a:ext>
            </a:extLst>
          </p:cNvPr>
          <p:cNvSpPr/>
          <p:nvPr/>
        </p:nvSpPr>
        <p:spPr>
          <a:xfrm>
            <a:off x="1063752" y="1808988"/>
            <a:ext cx="75117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➢ With an unwavering focus on customer satisfaction, the company has built a strong reputation as a reliable partner in protecting the future.</a:t>
            </a:r>
          </a:p>
        </p:txBody>
      </p:sp>
      <p:sp>
        <p:nvSpPr>
          <p:cNvPr id="51" name="Text 7">
            <a:extLst>
              <a:ext uri="{FF2B5EF4-FFF2-40B4-BE49-F238E27FC236}">
                <a16:creationId xmlns:a16="http://schemas.microsoft.com/office/drawing/2014/main" id="{543DF6A8-6F1A-395A-AAC1-34F49B15AF6B}"/>
              </a:ext>
            </a:extLst>
          </p:cNvPr>
          <p:cNvSpPr/>
          <p:nvPr/>
        </p:nvSpPr>
        <p:spPr>
          <a:xfrm>
            <a:off x="1063752" y="2366772"/>
            <a:ext cx="75117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➢ Recognized for its dependable coverage and customer-first approach, Shield Insurance provides peace of mind and security against life’s uncertainties.</a:t>
            </a:r>
          </a:p>
        </p:txBody>
      </p:sp>
      <p:sp>
        <p:nvSpPr>
          <p:cNvPr id="52" name="Shape 3">
            <a:extLst>
              <a:ext uri="{FF2B5EF4-FFF2-40B4-BE49-F238E27FC236}">
                <a16:creationId xmlns:a16="http://schemas.microsoft.com/office/drawing/2014/main" id="{0BDB200C-8A84-0773-C065-050FAFCE1B96}"/>
              </a:ext>
            </a:extLst>
          </p:cNvPr>
          <p:cNvSpPr/>
          <p:nvPr/>
        </p:nvSpPr>
        <p:spPr>
          <a:xfrm>
            <a:off x="347472" y="3006852"/>
            <a:ext cx="8255508" cy="2026920"/>
          </a:xfrm>
          <a:prstGeom prst="rect">
            <a:avLst/>
          </a:prstGeom>
          <a:solidFill>
            <a:srgbClr val="162636"/>
          </a:solidFill>
          <a:ln w="12700">
            <a:solidFill>
              <a:srgbClr val="1B8F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3" name="Shape 4">
            <a:extLst>
              <a:ext uri="{FF2B5EF4-FFF2-40B4-BE49-F238E27FC236}">
                <a16:creationId xmlns:a16="http://schemas.microsoft.com/office/drawing/2014/main" id="{CE8064B2-5B59-1D56-EB15-4FEAAFF3B47A}"/>
              </a:ext>
            </a:extLst>
          </p:cNvPr>
          <p:cNvSpPr/>
          <p:nvPr/>
        </p:nvSpPr>
        <p:spPr>
          <a:xfrm>
            <a:off x="347472" y="3006852"/>
            <a:ext cx="548640" cy="2026920"/>
          </a:xfrm>
          <a:prstGeom prst="rect">
            <a:avLst/>
          </a:prstGeom>
          <a:solidFill>
            <a:srgbClr val="1B8FA8"/>
          </a:solidFill>
          <a:ln w="12700">
            <a:solidFill>
              <a:srgbClr val="1B8F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">
            <a:extLst>
              <a:ext uri="{FF2B5EF4-FFF2-40B4-BE49-F238E27FC236}">
                <a16:creationId xmlns:a16="http://schemas.microsoft.com/office/drawing/2014/main" id="{719BE187-064B-CB1E-BBAD-C943A262B5FE}"/>
              </a:ext>
            </a:extLst>
          </p:cNvPr>
          <p:cNvSpPr/>
          <p:nvPr/>
        </p:nvSpPr>
        <p:spPr>
          <a:xfrm>
            <a:off x="329184" y="300685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55" name="Text 6">
            <a:extLst>
              <a:ext uri="{FF2B5EF4-FFF2-40B4-BE49-F238E27FC236}">
                <a16:creationId xmlns:a16="http://schemas.microsoft.com/office/drawing/2014/main" id="{8ADAEBDE-77AF-DF36-F235-CFAA364CA9FC}"/>
              </a:ext>
            </a:extLst>
          </p:cNvPr>
          <p:cNvSpPr/>
          <p:nvPr/>
        </p:nvSpPr>
        <p:spPr>
          <a:xfrm>
            <a:off x="969264" y="3072384"/>
            <a:ext cx="2383536" cy="2636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600" b="1" dirty="0">
                <a:solidFill>
                  <a:schemeClr val="bg1"/>
                </a:solidFill>
              </a:rPr>
              <a:t>Objective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56" name="Text 7">
            <a:extLst>
              <a:ext uri="{FF2B5EF4-FFF2-40B4-BE49-F238E27FC236}">
                <a16:creationId xmlns:a16="http://schemas.microsoft.com/office/drawing/2014/main" id="{3EFF3B64-EFDE-4870-2EA1-3E3A86F9E4EA}"/>
              </a:ext>
            </a:extLst>
          </p:cNvPr>
          <p:cNvSpPr/>
          <p:nvPr/>
        </p:nvSpPr>
        <p:spPr>
          <a:xfrm>
            <a:off x="1045464" y="3482340"/>
            <a:ext cx="75117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➢ The aim is to enable Shield Insurance to harness the power of a user-friendly, insight-driven dashboard that supports smarter, data-driven decision-making.</a:t>
            </a:r>
          </a:p>
        </p:txBody>
      </p:sp>
      <p:sp>
        <p:nvSpPr>
          <p:cNvPr id="57" name="Text 7">
            <a:extLst>
              <a:ext uri="{FF2B5EF4-FFF2-40B4-BE49-F238E27FC236}">
                <a16:creationId xmlns:a16="http://schemas.microsoft.com/office/drawing/2014/main" id="{72032355-469F-B557-9C8B-7E29B4646DAE}"/>
              </a:ext>
            </a:extLst>
          </p:cNvPr>
          <p:cNvSpPr/>
          <p:nvPr/>
        </p:nvSpPr>
        <p:spPr>
          <a:xfrm>
            <a:off x="1045464" y="3994404"/>
            <a:ext cx="75117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➢ As a Data Analyst Intern, my role involves engaging with clients, performing in depth data analysis, and designing intelligent dashboards customized to their business needs.</a:t>
            </a:r>
          </a:p>
        </p:txBody>
      </p:sp>
      <p:sp>
        <p:nvSpPr>
          <p:cNvPr id="58" name="Text 7">
            <a:extLst>
              <a:ext uri="{FF2B5EF4-FFF2-40B4-BE49-F238E27FC236}">
                <a16:creationId xmlns:a16="http://schemas.microsoft.com/office/drawing/2014/main" id="{F8598408-E5B8-0706-80CF-0BC62A6548A5}"/>
              </a:ext>
            </a:extLst>
          </p:cNvPr>
          <p:cNvSpPr/>
          <p:nvPr/>
        </p:nvSpPr>
        <p:spPr>
          <a:xfrm>
            <a:off x="1045464" y="4552188"/>
            <a:ext cx="75117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➢ The final deliverables include an interactive dashboard, a detailed presentation, and a demonstration of how data can be fully leveraged to drive organizational growth.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8FA8"/>
          </a:solidFill>
          <a:ln w="12700">
            <a:solidFill>
              <a:srgbClr val="1B8F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0540"/>
          </a:xfrm>
          <a:prstGeom prst="rect">
            <a:avLst/>
          </a:prstGeom>
          <a:solidFill>
            <a:srgbClr val="162636"/>
          </a:solidFill>
          <a:ln w="12700">
            <a:solidFill>
              <a:srgbClr val="16263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97180" y="70104"/>
            <a:ext cx="8229600" cy="3459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DETAILS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50521" y="671322"/>
            <a:ext cx="3931920" cy="1824228"/>
          </a:xfrm>
          <a:prstGeom prst="rect">
            <a:avLst/>
          </a:prstGeom>
          <a:solidFill>
            <a:srgbClr val="162636"/>
          </a:solidFill>
          <a:ln w="12700">
            <a:solidFill>
              <a:srgbClr val="1B8F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8046" y="708660"/>
            <a:ext cx="3931920" cy="17746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b="1" dirty="0">
                <a:solidFill>
                  <a:schemeClr val="bg1"/>
                </a:solidFill>
              </a:rPr>
              <a:t>Shield Insurance: </a:t>
            </a:r>
            <a:br>
              <a:rPr lang="en-US" sz="1400" b="1" dirty="0">
                <a:solidFill>
                  <a:schemeClr val="bg1"/>
                </a:solidFill>
              </a:rPr>
            </a:br>
            <a:r>
              <a:rPr lang="en-US" sz="1400" b="1" dirty="0">
                <a:solidFill>
                  <a:schemeClr val="bg1"/>
                </a:solidFill>
              </a:rPr>
              <a:t>Shield Insurance is a leading provider of insurance services, operating across five major cities in India: </a:t>
            </a:r>
            <a:br>
              <a:rPr lang="en-US" sz="1400" b="1" dirty="0">
                <a:solidFill>
                  <a:schemeClr val="bg1"/>
                </a:solidFill>
              </a:rPr>
            </a:br>
            <a:r>
              <a:rPr lang="en-US" sz="1400" b="1" dirty="0">
                <a:solidFill>
                  <a:schemeClr val="bg1"/>
                </a:solidFill>
              </a:rPr>
              <a:t>• Delhi NCR </a:t>
            </a:r>
            <a:br>
              <a:rPr lang="en-US" sz="1400" b="1" dirty="0">
                <a:solidFill>
                  <a:schemeClr val="bg1"/>
                </a:solidFill>
              </a:rPr>
            </a:br>
            <a:r>
              <a:rPr lang="en-US" sz="1400" b="1" dirty="0">
                <a:solidFill>
                  <a:schemeClr val="bg1"/>
                </a:solidFill>
              </a:rPr>
              <a:t>• Mumbai </a:t>
            </a:r>
            <a:br>
              <a:rPr lang="en-US" sz="1400" b="1" dirty="0">
                <a:solidFill>
                  <a:schemeClr val="bg1"/>
                </a:solidFill>
              </a:rPr>
            </a:br>
            <a:r>
              <a:rPr lang="en-US" sz="1400" b="1" dirty="0">
                <a:solidFill>
                  <a:schemeClr val="bg1"/>
                </a:solidFill>
              </a:rPr>
              <a:t>• Hyderabad</a:t>
            </a:r>
            <a:br>
              <a:rPr lang="en-US" sz="1400" b="1" dirty="0">
                <a:solidFill>
                  <a:schemeClr val="bg1"/>
                </a:solidFill>
              </a:rPr>
            </a:br>
            <a:r>
              <a:rPr lang="en-US" sz="1400" b="1" dirty="0">
                <a:solidFill>
                  <a:schemeClr val="bg1"/>
                </a:solidFill>
              </a:rPr>
              <a:t>• Chennai</a:t>
            </a:r>
            <a:br>
              <a:rPr lang="en-US" sz="1400" b="1" dirty="0">
                <a:solidFill>
                  <a:schemeClr val="bg1"/>
                </a:solidFill>
              </a:rPr>
            </a:br>
            <a:r>
              <a:rPr lang="en-US" sz="1400" b="1" dirty="0">
                <a:solidFill>
                  <a:schemeClr val="bg1"/>
                </a:solidFill>
              </a:rPr>
              <a:t>• Indore</a:t>
            </a:r>
          </a:p>
        </p:txBody>
      </p:sp>
      <p:sp>
        <p:nvSpPr>
          <p:cNvPr id="32" name="Shape 30"/>
          <p:cNvSpPr/>
          <p:nvPr/>
        </p:nvSpPr>
        <p:spPr>
          <a:xfrm>
            <a:off x="379476" y="4735068"/>
            <a:ext cx="8549640" cy="338328"/>
          </a:xfrm>
          <a:prstGeom prst="rect">
            <a:avLst/>
          </a:prstGeom>
          <a:solidFill>
            <a:srgbClr val="162636"/>
          </a:solidFill>
          <a:ln w="12700">
            <a:solidFill>
              <a:srgbClr val="1B8F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97180" y="4754880"/>
            <a:ext cx="854964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5E4ED"/>
                </a:solidFill>
              </a:rPr>
              <a:t>📊  Dataset: 26,841 customers | 5 cities | 6 age groups | 4 sales channels | Multiple policy types | Jan–Dec data</a:t>
            </a:r>
            <a:endParaRPr lang="en-US" sz="1400" b="1" dirty="0"/>
          </a:p>
        </p:txBody>
      </p:sp>
      <p:sp>
        <p:nvSpPr>
          <p:cNvPr id="34" name="Shape 3">
            <a:extLst>
              <a:ext uri="{FF2B5EF4-FFF2-40B4-BE49-F238E27FC236}">
                <a16:creationId xmlns:a16="http://schemas.microsoft.com/office/drawing/2014/main" id="{14BE3E09-3FF8-50D8-50C4-BE08545FD6B2}"/>
              </a:ext>
            </a:extLst>
          </p:cNvPr>
          <p:cNvSpPr/>
          <p:nvPr/>
        </p:nvSpPr>
        <p:spPr>
          <a:xfrm>
            <a:off x="5067300" y="671322"/>
            <a:ext cx="3931920" cy="544830"/>
          </a:xfrm>
          <a:prstGeom prst="rect">
            <a:avLst/>
          </a:prstGeom>
          <a:solidFill>
            <a:srgbClr val="162636"/>
          </a:solidFill>
          <a:ln w="12700">
            <a:solidFill>
              <a:srgbClr val="1B8F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55D0215C-F16D-829C-696D-5CE82D7679E1}"/>
              </a:ext>
            </a:extLst>
          </p:cNvPr>
          <p:cNvSpPr/>
          <p:nvPr/>
        </p:nvSpPr>
        <p:spPr>
          <a:xfrm>
            <a:off x="5067300" y="693420"/>
            <a:ext cx="3931920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b="1" dirty="0">
                <a:solidFill>
                  <a:schemeClr val="bg1"/>
                </a:solidFill>
              </a:rPr>
              <a:t>The company offers a diverse portfolio of 9 insurance policy types, catering to the varying needs of its customers.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E99AEF51-1EE1-62FB-4AA9-920F9437F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04" y="2606095"/>
            <a:ext cx="3594354" cy="186608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514E581-5611-F278-9313-721381020D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3041" y="1294638"/>
            <a:ext cx="3520438" cy="33817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8FA8"/>
          </a:solidFill>
          <a:ln w="12700">
            <a:solidFill>
              <a:srgbClr val="1B8F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92430" y="801624"/>
            <a:ext cx="2926080" cy="916685"/>
          </a:xfrm>
          <a:prstGeom prst="rect">
            <a:avLst/>
          </a:prstGeom>
          <a:solidFill>
            <a:srgbClr val="162636"/>
          </a:solidFill>
          <a:ln w="12700">
            <a:solidFill>
              <a:srgbClr val="1B8F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88036" y="215037"/>
            <a:ext cx="3438144" cy="486156"/>
          </a:xfrm>
          <a:prstGeom prst="rect">
            <a:avLst/>
          </a:prstGeom>
          <a:solidFill>
            <a:srgbClr val="1B8FA8"/>
          </a:solidFill>
          <a:ln w="12700">
            <a:solidFill>
              <a:srgbClr val="1B8F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07848" y="224334"/>
            <a:ext cx="3418332" cy="486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The company operates through two primary sales modes, each with two distinct categories:</a:t>
            </a:r>
          </a:p>
        </p:txBody>
      </p:sp>
      <p:sp>
        <p:nvSpPr>
          <p:cNvPr id="28" name="Text 26"/>
          <p:cNvSpPr/>
          <p:nvPr/>
        </p:nvSpPr>
        <p:spPr>
          <a:xfrm>
            <a:off x="493014" y="851917"/>
            <a:ext cx="12115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b="1" dirty="0">
                <a:solidFill>
                  <a:schemeClr val="bg1"/>
                </a:solidFill>
              </a:rPr>
              <a:t>Offline Mode: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1966721" y="847345"/>
            <a:ext cx="10744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b="1" dirty="0">
                <a:solidFill>
                  <a:schemeClr val="bg1"/>
                </a:solidFill>
              </a:rPr>
              <a:t>Online Mode: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70154" y="1126236"/>
            <a:ext cx="2834640" cy="347472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61594" y="119024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>
                <a:solidFill>
                  <a:schemeClr val="bg1"/>
                </a:solidFill>
              </a:rPr>
              <a:t>Sales Agent 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1974342" y="1190244"/>
            <a:ext cx="1257300" cy="1874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>
                <a:solidFill>
                  <a:schemeClr val="bg1"/>
                </a:solidFill>
              </a:rPr>
              <a:t>Mobile Application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553214" y="1480565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>
                <a:solidFill>
                  <a:schemeClr val="bg1"/>
                </a:solidFill>
              </a:rPr>
              <a:t>Direct Sales 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1974342" y="1477517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>
                <a:solidFill>
                  <a:schemeClr val="bg1"/>
                </a:solidFill>
              </a:rPr>
              <a:t>Website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49" name="Shape 47"/>
          <p:cNvSpPr/>
          <p:nvPr/>
        </p:nvSpPr>
        <p:spPr>
          <a:xfrm>
            <a:off x="3936489" y="783640"/>
            <a:ext cx="1432562" cy="2221383"/>
          </a:xfrm>
          <a:prstGeom prst="rect">
            <a:avLst/>
          </a:prstGeom>
          <a:solidFill>
            <a:srgbClr val="162636"/>
          </a:solidFill>
          <a:ln w="12700">
            <a:solidFill>
              <a:srgbClr val="1B8F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3934204" y="216561"/>
            <a:ext cx="5080256" cy="438456"/>
          </a:xfrm>
          <a:prstGeom prst="rect">
            <a:avLst/>
          </a:prstGeom>
          <a:solidFill>
            <a:srgbClr val="1B8FA8"/>
          </a:solidFill>
          <a:ln w="12700">
            <a:solidFill>
              <a:srgbClr val="1B8F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3932673" y="255269"/>
            <a:ext cx="5080256" cy="337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Customers must be at least 18 years of age. Age Categories:</a:t>
            </a:r>
          </a:p>
        </p:txBody>
      </p:sp>
      <p:sp>
        <p:nvSpPr>
          <p:cNvPr id="52" name="Text 50"/>
          <p:cNvSpPr/>
          <p:nvPr/>
        </p:nvSpPr>
        <p:spPr>
          <a:xfrm>
            <a:off x="4002021" y="813511"/>
            <a:ext cx="762000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4E0"/>
                </a:solidFill>
              </a:rPr>
              <a:t>Age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3963921" y="1020776"/>
            <a:ext cx="1289304" cy="256032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4002021" y="1057352"/>
            <a:ext cx="9555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dirty="0">
                <a:solidFill>
                  <a:schemeClr val="bg1"/>
                </a:solidFill>
              </a:rPr>
              <a:t>18–24 years 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2" name="Shape 60"/>
          <p:cNvSpPr/>
          <p:nvPr/>
        </p:nvSpPr>
        <p:spPr>
          <a:xfrm>
            <a:off x="3963921" y="1679144"/>
            <a:ext cx="1289304" cy="292608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3963921" y="2337512"/>
            <a:ext cx="1289304" cy="268836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" name="Text 54">
            <a:extLst>
              <a:ext uri="{FF2B5EF4-FFF2-40B4-BE49-F238E27FC236}">
                <a16:creationId xmlns:a16="http://schemas.microsoft.com/office/drawing/2014/main" id="{37E0F860-7F15-1357-941E-8CEAA2D34F1D}"/>
              </a:ext>
            </a:extLst>
          </p:cNvPr>
          <p:cNvSpPr/>
          <p:nvPr/>
        </p:nvSpPr>
        <p:spPr>
          <a:xfrm>
            <a:off x="4002021" y="1377392"/>
            <a:ext cx="9555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dirty="0">
                <a:solidFill>
                  <a:schemeClr val="bg1"/>
                </a:solidFill>
              </a:rPr>
              <a:t>25–30 years 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6" name="Text 54">
            <a:extLst>
              <a:ext uri="{FF2B5EF4-FFF2-40B4-BE49-F238E27FC236}">
                <a16:creationId xmlns:a16="http://schemas.microsoft.com/office/drawing/2014/main" id="{BDCB0537-0178-1AB9-2900-7E30748AEE1D}"/>
              </a:ext>
            </a:extLst>
          </p:cNvPr>
          <p:cNvSpPr/>
          <p:nvPr/>
        </p:nvSpPr>
        <p:spPr>
          <a:xfrm>
            <a:off x="3984495" y="1715720"/>
            <a:ext cx="955548" cy="2084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dirty="0">
                <a:solidFill>
                  <a:schemeClr val="bg1"/>
                </a:solidFill>
              </a:rPr>
              <a:t>31–40 years 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7" name="Text 54">
            <a:extLst>
              <a:ext uri="{FF2B5EF4-FFF2-40B4-BE49-F238E27FC236}">
                <a16:creationId xmlns:a16="http://schemas.microsoft.com/office/drawing/2014/main" id="{815787E8-09C2-5E07-CE69-FC5C1B531A36}"/>
              </a:ext>
            </a:extLst>
          </p:cNvPr>
          <p:cNvSpPr/>
          <p:nvPr/>
        </p:nvSpPr>
        <p:spPr>
          <a:xfrm>
            <a:off x="3984495" y="2021130"/>
            <a:ext cx="9555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dirty="0">
                <a:solidFill>
                  <a:schemeClr val="bg1"/>
                </a:solidFill>
              </a:rPr>
              <a:t>41–50 years 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8" name="Text 54">
            <a:extLst>
              <a:ext uri="{FF2B5EF4-FFF2-40B4-BE49-F238E27FC236}">
                <a16:creationId xmlns:a16="http://schemas.microsoft.com/office/drawing/2014/main" id="{146A9F02-42FC-0C62-6212-BB1FC3C5CDC8}"/>
              </a:ext>
            </a:extLst>
          </p:cNvPr>
          <p:cNvSpPr/>
          <p:nvPr/>
        </p:nvSpPr>
        <p:spPr>
          <a:xfrm>
            <a:off x="3976875" y="2364944"/>
            <a:ext cx="9555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dirty="0">
                <a:solidFill>
                  <a:schemeClr val="bg1"/>
                </a:solidFill>
              </a:rPr>
              <a:t>51–65 years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9" name="Text 54">
            <a:extLst>
              <a:ext uri="{FF2B5EF4-FFF2-40B4-BE49-F238E27FC236}">
                <a16:creationId xmlns:a16="http://schemas.microsoft.com/office/drawing/2014/main" id="{942E4089-8C78-DE2C-F64A-31790A7543B5}"/>
              </a:ext>
            </a:extLst>
          </p:cNvPr>
          <p:cNvSpPr/>
          <p:nvPr/>
        </p:nvSpPr>
        <p:spPr>
          <a:xfrm>
            <a:off x="3976875" y="2695957"/>
            <a:ext cx="1392176" cy="200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dirty="0">
                <a:solidFill>
                  <a:schemeClr val="bg1"/>
                </a:solidFill>
              </a:rPr>
              <a:t>65 years and above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35" name="Picture 134">
            <a:extLst>
              <a:ext uri="{FF2B5EF4-FFF2-40B4-BE49-F238E27FC236}">
                <a16:creationId xmlns:a16="http://schemas.microsoft.com/office/drawing/2014/main" id="{0AC2B1F6-1C41-9964-24D3-3145C3B40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9210" y="783640"/>
            <a:ext cx="3465250" cy="2221383"/>
          </a:xfrm>
          <a:prstGeom prst="rect">
            <a:avLst/>
          </a:prstGeom>
        </p:spPr>
      </p:pic>
      <p:sp>
        <p:nvSpPr>
          <p:cNvPr id="140" name="TextBox 139">
            <a:extLst>
              <a:ext uri="{FF2B5EF4-FFF2-40B4-BE49-F238E27FC236}">
                <a16:creationId xmlns:a16="http://schemas.microsoft.com/office/drawing/2014/main" id="{E7B1C7B2-3EDE-159C-4261-42AD5BC54DAB}"/>
              </a:ext>
            </a:extLst>
          </p:cNvPr>
          <p:cNvSpPr txBox="1"/>
          <p:nvPr/>
        </p:nvSpPr>
        <p:spPr>
          <a:xfrm>
            <a:off x="3872716" y="3391661"/>
            <a:ext cx="12921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Input Dataset:</a:t>
            </a:r>
          </a:p>
        </p:txBody>
      </p:sp>
      <p:pic>
        <p:nvPicPr>
          <p:cNvPr id="144" name="Picture 143">
            <a:extLst>
              <a:ext uri="{FF2B5EF4-FFF2-40B4-BE49-F238E27FC236}">
                <a16:creationId xmlns:a16="http://schemas.microsoft.com/office/drawing/2014/main" id="{E2C4D32F-2CB6-D7B3-AA5D-B4B454B7E7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2073" y="3675046"/>
            <a:ext cx="1560456" cy="1323731"/>
          </a:xfrm>
          <a:prstGeom prst="rect">
            <a:avLst/>
          </a:prstGeom>
        </p:spPr>
      </p:pic>
      <p:sp>
        <p:nvSpPr>
          <p:cNvPr id="148" name="Shape 48">
            <a:extLst>
              <a:ext uri="{FF2B5EF4-FFF2-40B4-BE49-F238E27FC236}">
                <a16:creationId xmlns:a16="http://schemas.microsoft.com/office/drawing/2014/main" id="{A8349AE5-AE00-11FA-3572-722B9AB530AE}"/>
              </a:ext>
            </a:extLst>
          </p:cNvPr>
          <p:cNvSpPr/>
          <p:nvPr/>
        </p:nvSpPr>
        <p:spPr>
          <a:xfrm>
            <a:off x="3952072" y="3101949"/>
            <a:ext cx="5080256" cy="307777"/>
          </a:xfrm>
          <a:prstGeom prst="rect">
            <a:avLst/>
          </a:prstGeom>
          <a:solidFill>
            <a:srgbClr val="1B8FA8"/>
          </a:solidFill>
          <a:ln w="12700">
            <a:solidFill>
              <a:srgbClr val="1B8FA8"/>
            </a:solidFill>
            <a:prstDash val="solid"/>
          </a:ln>
        </p:spPr>
        <p:txBody>
          <a:bodyPr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Data was available from November 2022 to April 2023 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49" name="Text 49">
            <a:extLst>
              <a:ext uri="{FF2B5EF4-FFF2-40B4-BE49-F238E27FC236}">
                <a16:creationId xmlns:a16="http://schemas.microsoft.com/office/drawing/2014/main" id="{CE2F9761-ED71-9870-3C0F-47945D63F70F}"/>
              </a:ext>
            </a:extLst>
          </p:cNvPr>
          <p:cNvSpPr/>
          <p:nvPr/>
        </p:nvSpPr>
        <p:spPr>
          <a:xfrm>
            <a:off x="3936489" y="3115570"/>
            <a:ext cx="4723647" cy="484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8E7EC339-7C20-FC79-59FA-A583A775D454}"/>
              </a:ext>
            </a:extLst>
          </p:cNvPr>
          <p:cNvSpPr txBox="1"/>
          <p:nvPr/>
        </p:nvSpPr>
        <p:spPr>
          <a:xfrm>
            <a:off x="5584266" y="3667362"/>
            <a:ext cx="346525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With the help of the given data, I developed an interactive dashboard that enables stakeholders to effectively track revenue, monitor customer growth, and gain actionable insights into business performance across multiple dimensions.</a:t>
            </a:r>
          </a:p>
        </p:txBody>
      </p:sp>
      <p:pic>
        <p:nvPicPr>
          <p:cNvPr id="153" name="Picture 152">
            <a:extLst>
              <a:ext uri="{FF2B5EF4-FFF2-40B4-BE49-F238E27FC236}">
                <a16:creationId xmlns:a16="http://schemas.microsoft.com/office/drawing/2014/main" id="{967A1943-4903-F0FC-3F5D-B5F445A02C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848" y="1782317"/>
            <a:ext cx="3418332" cy="3270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30BD64-8169-9896-5670-1C9A8553A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DA2E5CB-9A00-AB6B-4F1E-355E5D6ADF97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8FA8"/>
          </a:solidFill>
          <a:ln w="12700">
            <a:solidFill>
              <a:srgbClr val="1B8F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240B338-E61A-460E-1E17-A315AD687539}"/>
              </a:ext>
            </a:extLst>
          </p:cNvPr>
          <p:cNvSpPr/>
          <p:nvPr/>
        </p:nvSpPr>
        <p:spPr>
          <a:xfrm>
            <a:off x="0" y="0"/>
            <a:ext cx="9144000" cy="701040"/>
          </a:xfrm>
          <a:prstGeom prst="rect">
            <a:avLst/>
          </a:prstGeom>
          <a:solidFill>
            <a:srgbClr val="162636"/>
          </a:solidFill>
          <a:ln w="12700">
            <a:solidFill>
              <a:srgbClr val="16263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8009A49-439F-3D27-AF7E-18610B07E8FE}"/>
              </a:ext>
            </a:extLst>
          </p:cNvPr>
          <p:cNvSpPr/>
          <p:nvPr/>
        </p:nvSpPr>
        <p:spPr>
          <a:xfrm>
            <a:off x="164592" y="104013"/>
            <a:ext cx="8229600" cy="4930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</a:rPr>
              <a:t>KEY INSIGHTS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621ED7-A3D3-B3D9-DADD-E81EABAAC068}"/>
              </a:ext>
            </a:extLst>
          </p:cNvPr>
          <p:cNvSpPr txBox="1"/>
          <p:nvPr/>
        </p:nvSpPr>
        <p:spPr>
          <a:xfrm>
            <a:off x="391668" y="937111"/>
            <a:ext cx="862279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➢ </a:t>
            </a:r>
            <a:r>
              <a:rPr lang="en-US" sz="1400" b="1" dirty="0">
                <a:solidFill>
                  <a:schemeClr val="bg1"/>
                </a:solidFill>
              </a:rPr>
              <a:t>Strong Age Segment (31–40 years):  </a:t>
            </a:r>
            <a:r>
              <a:rPr lang="en-US" sz="1400" dirty="0">
                <a:solidFill>
                  <a:schemeClr val="bg1"/>
                </a:solidFill>
              </a:rPr>
              <a:t>The majority of customers and revenue came from this age group, making it the most valuable segment.</a:t>
            </a: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 </a:t>
            </a: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➢ </a:t>
            </a:r>
            <a:r>
              <a:rPr lang="en-US" sz="1400" b="1" dirty="0">
                <a:solidFill>
                  <a:schemeClr val="bg1"/>
                </a:solidFill>
              </a:rPr>
              <a:t>Top Performing Month – March 2023:</a:t>
            </a:r>
            <a:r>
              <a:rPr lang="en-US" sz="1400" dirty="0">
                <a:solidFill>
                  <a:schemeClr val="bg1"/>
                </a:solidFill>
              </a:rPr>
              <a:t>  Highest number of new customers acquired and peak revenue achieved.</a:t>
            </a:r>
            <a:br>
              <a:rPr lang="en-US" sz="1400" dirty="0">
                <a:solidFill>
                  <a:schemeClr val="bg1"/>
                </a:solidFill>
              </a:rPr>
            </a:b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➢ </a:t>
            </a:r>
            <a:r>
              <a:rPr lang="en-US" sz="1400" b="1" dirty="0">
                <a:solidFill>
                  <a:schemeClr val="bg1"/>
                </a:solidFill>
              </a:rPr>
              <a:t>Delhi NCR Leads: </a:t>
            </a:r>
            <a:r>
              <a:rPr lang="en-US" sz="1400" dirty="0">
                <a:solidFill>
                  <a:schemeClr val="bg1"/>
                </a:solidFill>
              </a:rPr>
              <a:t>Among all five cities, Delhi NCR recorded the largest customer base and generated the highest revenue. </a:t>
            </a:r>
            <a:br>
              <a:rPr lang="en-US" sz="1400" dirty="0">
                <a:solidFill>
                  <a:schemeClr val="bg1"/>
                </a:solidFill>
              </a:rPr>
            </a:b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➢ </a:t>
            </a:r>
            <a:r>
              <a:rPr lang="en-US" sz="1400" b="1" dirty="0">
                <a:solidFill>
                  <a:schemeClr val="bg1"/>
                </a:solidFill>
              </a:rPr>
              <a:t>Policy Preference by Age:  </a:t>
            </a:r>
            <a:r>
              <a:rPr lang="en-US" sz="1400" dirty="0">
                <a:solidFill>
                  <a:schemeClr val="bg1"/>
                </a:solidFill>
              </a:rPr>
              <a:t>Customers aged 31–40 consistently preferred all types of policies more than other groups. </a:t>
            </a:r>
            <a:br>
              <a:rPr lang="en-US" sz="1400" dirty="0">
                <a:solidFill>
                  <a:schemeClr val="bg1"/>
                </a:solidFill>
              </a:rPr>
            </a:b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➢ </a:t>
            </a:r>
            <a:r>
              <a:rPr lang="en-US" sz="1400" b="1" dirty="0">
                <a:solidFill>
                  <a:schemeClr val="bg1"/>
                </a:solidFill>
              </a:rPr>
              <a:t>Most Popular Policy:  </a:t>
            </a:r>
            <a:r>
              <a:rPr lang="en-US" sz="1400" dirty="0">
                <a:solidFill>
                  <a:schemeClr val="bg1"/>
                </a:solidFill>
              </a:rPr>
              <a:t>Policy ID POL4321HEL (₹5,000 base premium) was purchased by over 4,000 customers. </a:t>
            </a:r>
            <a:br>
              <a:rPr lang="en-US" sz="1400" dirty="0">
                <a:solidFill>
                  <a:schemeClr val="bg1"/>
                </a:solidFill>
              </a:rPr>
            </a:b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➢ </a:t>
            </a:r>
            <a:r>
              <a:rPr lang="en-US" sz="1400" b="1" dirty="0">
                <a:solidFill>
                  <a:schemeClr val="bg1"/>
                </a:solidFill>
              </a:rPr>
              <a:t>Dominant Sales Channel – Agents (Offline):  </a:t>
            </a:r>
            <a:r>
              <a:rPr lang="en-US" sz="1400" dirty="0">
                <a:solidFill>
                  <a:schemeClr val="bg1"/>
                </a:solidFill>
              </a:rPr>
              <a:t>The majority of policies were sold through sales agents, driving the highest revenue. </a:t>
            </a:r>
            <a:br>
              <a:rPr lang="en-US" sz="1400" dirty="0">
                <a:solidFill>
                  <a:schemeClr val="bg1"/>
                </a:solidFill>
              </a:rPr>
            </a:b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➢ </a:t>
            </a:r>
            <a:r>
              <a:rPr lang="en-US" sz="1400" b="1" dirty="0">
                <a:solidFill>
                  <a:schemeClr val="bg1"/>
                </a:solidFill>
              </a:rPr>
              <a:t>Emerging Online Channels: </a:t>
            </a:r>
            <a:r>
              <a:rPr lang="en-US" sz="1400" dirty="0">
                <a:solidFill>
                  <a:schemeClr val="bg1"/>
                </a:solidFill>
              </a:rPr>
              <a:t>From February 2023 onwards, sales via mobile app and website showed steady growth, while direct offline sales declined. </a:t>
            </a:r>
            <a:endParaRPr lang="en-IN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9572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0D48AC-EAFF-5D89-8128-645560F67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16FBAE2-0CFB-44E1-3977-699C970DB1C7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8FA8"/>
          </a:solidFill>
          <a:ln w="12700">
            <a:solidFill>
              <a:srgbClr val="1B8F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47E758B-7103-00BA-5C35-B85F3CD76DE5}"/>
              </a:ext>
            </a:extLst>
          </p:cNvPr>
          <p:cNvSpPr/>
          <p:nvPr/>
        </p:nvSpPr>
        <p:spPr>
          <a:xfrm>
            <a:off x="0" y="0"/>
            <a:ext cx="9144000" cy="701040"/>
          </a:xfrm>
          <a:prstGeom prst="rect">
            <a:avLst/>
          </a:prstGeom>
          <a:solidFill>
            <a:srgbClr val="162636"/>
          </a:solidFill>
          <a:ln w="12700">
            <a:solidFill>
              <a:srgbClr val="16263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2E18888-6DB1-76B6-B307-4D4EE9F04567}"/>
              </a:ext>
            </a:extLst>
          </p:cNvPr>
          <p:cNvSpPr/>
          <p:nvPr/>
        </p:nvSpPr>
        <p:spPr>
          <a:xfrm>
            <a:off x="164592" y="104013"/>
            <a:ext cx="8229600" cy="4930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</a:rPr>
              <a:t>RECOMMENDATION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2547B6-FC2C-538F-50DB-49A75B59BD03}"/>
              </a:ext>
            </a:extLst>
          </p:cNvPr>
          <p:cNvSpPr txBox="1"/>
          <p:nvPr/>
        </p:nvSpPr>
        <p:spPr>
          <a:xfrm>
            <a:off x="391668" y="937111"/>
            <a:ext cx="862279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➢ </a:t>
            </a:r>
            <a:r>
              <a:rPr lang="en-US" b="1" dirty="0">
                <a:solidFill>
                  <a:schemeClr val="bg1"/>
                </a:solidFill>
              </a:rPr>
              <a:t>Leverage March Success: </a:t>
            </a:r>
            <a:r>
              <a:rPr lang="en-US" dirty="0">
                <a:solidFill>
                  <a:schemeClr val="bg1"/>
                </a:solidFill>
              </a:rPr>
              <a:t>Analyze the factors behind March 2023’s peak performance and replicate them in future campaigns. 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➢ </a:t>
            </a:r>
            <a:r>
              <a:rPr lang="en-US" b="1" dirty="0">
                <a:solidFill>
                  <a:schemeClr val="bg1"/>
                </a:solidFill>
              </a:rPr>
              <a:t>Expand City Strategies: </a:t>
            </a:r>
            <a:r>
              <a:rPr lang="en-US" dirty="0">
                <a:solidFill>
                  <a:schemeClr val="bg1"/>
                </a:solidFill>
              </a:rPr>
              <a:t>Apply the successful approaches from Delhi NCR to boost growth in other cities. 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➢ </a:t>
            </a:r>
            <a:r>
              <a:rPr lang="en-US" b="1" dirty="0">
                <a:solidFill>
                  <a:schemeClr val="bg1"/>
                </a:solidFill>
              </a:rPr>
              <a:t>Target Age Group 31–40: </a:t>
            </a:r>
            <a:r>
              <a:rPr lang="en-US" dirty="0">
                <a:solidFill>
                  <a:schemeClr val="bg1"/>
                </a:solidFill>
              </a:rPr>
              <a:t>Design focused marketing initiatives and tailored policy options for the most active customer segment.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➢ </a:t>
            </a:r>
            <a:r>
              <a:rPr lang="en-US" b="1" dirty="0">
                <a:solidFill>
                  <a:schemeClr val="bg1"/>
                </a:solidFill>
              </a:rPr>
              <a:t>Strengthen Direct Sales: </a:t>
            </a:r>
            <a:r>
              <a:rPr lang="en-US" dirty="0">
                <a:solidFill>
                  <a:schemeClr val="bg1"/>
                </a:solidFill>
              </a:rPr>
              <a:t>Adapt strategies from the growing mobile app and website channels to enhance offline direct sales. 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➢ </a:t>
            </a:r>
            <a:r>
              <a:rPr lang="en-US" b="1" dirty="0">
                <a:solidFill>
                  <a:schemeClr val="bg1"/>
                </a:solidFill>
              </a:rPr>
              <a:t>Enhance Popular Policy (POL4321HEL): </a:t>
            </a:r>
            <a:r>
              <a:rPr lang="en-US" dirty="0">
                <a:solidFill>
                  <a:schemeClr val="bg1"/>
                </a:solidFill>
              </a:rPr>
              <a:t>Introduce upgrades or variations of the top performing policy to attract wider age groups.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8067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8FA8"/>
          </a:solidFill>
          <a:ln w="12700">
            <a:solidFill>
              <a:srgbClr val="1B8F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1B8FA8"/>
          </a:solidFill>
          <a:ln w="12700">
            <a:solidFill>
              <a:srgbClr val="1B8F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1B8FA8">
              <a:alpha val="20000"/>
            </a:srgbClr>
          </a:solidFill>
          <a:ln w="12700">
            <a:solidFill>
              <a:srgbClr val="1B8FA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0" y="-731520"/>
            <a:ext cx="2743200" cy="2743200"/>
          </a:xfrm>
          <a:prstGeom prst="ellipse">
            <a:avLst/>
          </a:prstGeom>
          <a:solidFill>
            <a:srgbClr val="2EC4E0">
              <a:alpha val="15000"/>
            </a:srgbClr>
          </a:solidFill>
          <a:ln w="12700">
            <a:solidFill>
              <a:srgbClr val="2EC4E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8503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kern="0" spc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320040" y="201168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2EC4E0"/>
                </a:solidFill>
              </a:rPr>
              <a:t>Shield Insurance – Data Analytics Dashboard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86000" y="2606040"/>
            <a:ext cx="4572000" cy="45720"/>
          </a:xfrm>
          <a:prstGeom prst="rect">
            <a:avLst/>
          </a:prstGeom>
          <a:solidFill>
            <a:srgbClr val="1B8FA8"/>
          </a:solidFill>
          <a:ln w="12700">
            <a:solidFill>
              <a:srgbClr val="1B8F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0040" y="283464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Presented by  Prachi Jha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0040" y="32918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3B1"/>
                </a:solidFill>
              </a:rPr>
              <a:t>Codebasics Virtual Internship  |  April 2026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37260" y="3931920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162636"/>
          </a:solidFill>
          <a:ln w="12700">
            <a:solidFill>
              <a:srgbClr val="1B8F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37260" y="39319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C4E0"/>
                </a:solidFill>
              </a:rPr>
              <a:t>Power BI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427732" y="3931920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162636"/>
          </a:solidFill>
          <a:ln w="12700">
            <a:solidFill>
              <a:srgbClr val="1B8F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427732" y="39319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C4E0"/>
                </a:solidFill>
              </a:rPr>
              <a:t>DAX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918204" y="3931920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162636"/>
          </a:solidFill>
          <a:ln w="12700">
            <a:solidFill>
              <a:srgbClr val="1B8F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918204" y="39319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C4E0"/>
                </a:solidFill>
              </a:rPr>
              <a:t>Data Analytics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08676" y="3931920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162636"/>
          </a:solidFill>
          <a:ln w="12700">
            <a:solidFill>
              <a:srgbClr val="1B8F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08676" y="39319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C4E0"/>
                </a:solidFill>
              </a:rPr>
              <a:t>Power Query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99148" y="3931920"/>
            <a:ext cx="1566672" cy="365760"/>
          </a:xfrm>
          <a:prstGeom prst="roundRect">
            <a:avLst>
              <a:gd name="adj" fmla="val 20000"/>
            </a:avLst>
          </a:prstGeom>
          <a:solidFill>
            <a:srgbClr val="162636"/>
          </a:solidFill>
          <a:ln w="12700">
            <a:solidFill>
              <a:srgbClr val="1B8F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899148" y="3931920"/>
            <a:ext cx="156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C4E0"/>
                </a:solidFill>
              </a:rPr>
              <a:t>Insurance Domain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0040" y="452628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FA3B1"/>
                </a:solidFill>
              </a:rPr>
              <a:t>Questions &amp; Discussion Welcome 🙌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704</Words>
  <Application>Microsoft Office PowerPoint</Application>
  <PresentationFormat>On-screen Show (16:9)</PresentationFormat>
  <Paragraphs>65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Shield Insurance – Codebasics Virtual Internship</dc:title>
  <dc:subject>PptxGenJS Presentation</dc:subject>
  <dc:creator>Prachi</dc:creator>
  <cp:lastModifiedBy>Prachi Jha</cp:lastModifiedBy>
  <cp:revision>8</cp:revision>
  <dcterms:created xsi:type="dcterms:W3CDTF">2026-04-04T16:53:38Z</dcterms:created>
  <dcterms:modified xsi:type="dcterms:W3CDTF">2026-04-05T08:06:45Z</dcterms:modified>
</cp:coreProperties>
</file>